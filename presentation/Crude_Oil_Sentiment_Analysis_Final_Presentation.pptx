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Correlation coefficient (r) by regime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 window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WTI×VADER</c:v>
                  </c:pt>
                  <c:pt idx="1">
                    <c:v>WTI×FinBERT</c:v>
                  </c:pt>
                  <c:pt idx="2">
                    <c:v>Brent×VADER</c:v>
                  </c:pt>
                  <c:pt idx="3">
                    <c:v>Brent×FinBERT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0.304</c:v>
                </c:pt>
                <c:pt idx="1">
                  <c:v>0.298</c:v>
                </c:pt>
                <c:pt idx="2">
                  <c:v>0.268</c:v>
                </c:pt>
                <c:pt idx="3">
                  <c:v>0.302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Calm period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WTI×VADER</c:v>
                  </c:pt>
                  <c:pt idx="1">
                    <c:v>WTI×FinBERT</c:v>
                  </c:pt>
                  <c:pt idx="2">
                    <c:v>Brent×VADER</c:v>
                  </c:pt>
                  <c:pt idx="3">
                    <c:v>Brent×FinBERT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-0.044</c:v>
                </c:pt>
                <c:pt idx="1">
                  <c:v>0.04</c:v>
                </c:pt>
                <c:pt idx="2">
                  <c:v>-0.014</c:v>
                </c:pt>
                <c:pt idx="3">
                  <c:v>0.056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65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AAB4C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AAB4CC"/>
                    </a:solidFill>
                    <a:latin typeface="Arial"/>
                  </a:rPr>
                  <a:t>Pearson 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2E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D8DCE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B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Mean Absolute Error by model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(USD)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 persistence</c:v>
                  </c:pt>
                  <c:pt idx="1">
                    <c:v>Baseline
(price-only)</c:v>
                  </c:pt>
                  <c:pt idx="2">
                    <c:v>Sentiment-augmented
(+ FinBERT lag-7)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3.211</c:v>
                </c:pt>
                <c:pt idx="1">
                  <c:v>34.269</c:v>
                </c:pt>
                <c:pt idx="2">
                  <c:v>33.943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F2C47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1F2C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INTERNSHIP FINAL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Sentiment-Driven Crude Oil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Impact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— and stress-testing — the link between news sentiment and WTI / Brent crude prices, from correlation through Granger causality to forecasting.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440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Nishwan M</a:t>
            </a:r>
            <a:pPr indent="0" marL="0">
              <a:buNone/>
            </a:pPr>
            <a:r>
              <a:rPr lang="en-US" sz="13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Enrollment No. 2025MSBDA026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Computer Science (Big Data Analytics)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three progressively harder questions about sentiment and oil prices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sentiment correlate with price?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30428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same-day and lagged Pearson correlation between headline sentiment and WTI / Brent returns, across the full 2020–2026 window.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291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sentiment predict price — and does it matter when?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72160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Granger causality at multiple lags, and compare event-window periods against calm periods.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sentiment actually improve a forecast?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513892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price-only Prophet baseline vs. a sentiment-augmented Prophet model, and benchmark both against a naive persistence forecast.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172200"/>
            <a:ext cx="11064240" cy="18288"/>
          </a:xfrm>
          <a:prstGeom prst="rect">
            <a:avLst/>
          </a:prstGeom>
          <a:solidFill>
            <a:srgbClr val="E2E0D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a pipeline + statistical measurement project — not a “predict oil price from headlines” project.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years of prices matched against three independently scraped news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9436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718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 &amp; Brent daily spot prices (EIA / GitHub mirror)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1,664 trading days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OilPrice.com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718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via cloudscraper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6301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16,227 headlines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718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 section, scraped via cloudscraper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315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9,990 headlines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Hellenic Shipping News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71800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001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8,052 headlines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2.0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71800" y="5394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tone signal (structured events)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56875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events / 3,266 articles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0" y="187452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34,272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95160" y="2834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headlines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 + fuzzy same-day dedup)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81160" y="187452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2,068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418320" y="2834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days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coverage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393192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95160" y="4892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headlines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covered 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81160" y="393192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2020–2026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418320" y="4892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window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(2020-01-03 to 2026-07-03)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behaviour and data quality checks before any sentiment work began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$71.43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WTI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$8.91 – $123.64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$75.66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Brent price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 $20.59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856 / 808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Up-days vs. down-days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balanced directionally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missingness: 0.00%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extremes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WTI: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$123.64 on 2022-03-08 (Russia–Ukraine war onset)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WTI: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$8.91 on 2020-04-21 (COVID-19 demand collapse / negative-price aftermath)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extremes line up with known geopolitical / macro shocks — motivating the event-window regime analysis in Week 3.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Sentiment Models, Deliberately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lexicon vs. a domain-tuned transformer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3E5C7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31720"/>
            <a:ext cx="5303520" cy="32004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Lexicon-based (NLTK)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07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word/punctuation scoring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575304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training data needed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197096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50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— tuned on social media text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4818888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672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of financial/market language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7452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331720"/>
            <a:ext cx="530352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FinBERT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ProsusAI/FinBERT (transformer)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95351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807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financial text corpora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57530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market-specific tone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1970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0507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nuance VADER's word-list misses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8188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672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to run, but far more relevant here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preview: FinBERT consistently outperforms VADER on every statistical test in this project — correlation, Granger causality, and forecasting.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Correlation: Weak Overall, Not Nothing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same-day (lag 0), full 2020–2026 sample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6400800" cy="201168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37160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WTI × FinBERT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× FinBERT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WTI × VADER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× VADER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6596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41B2E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0" y="2514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detects a small, real same-day relationship. VADER detects nothing — at any lag tested (0, 1, 3, 7 days). Correlation fades by lag 1 and turns slightly negative by lag 3.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as: on an average day, headline tone alone is a weak signal — not the strong predictor a first assumption might expect.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11064240" cy="18288"/>
          </a:xfrm>
          <a:prstGeom prst="rect">
            <a:avLst/>
          </a:prstGeom>
          <a:solidFill>
            <a:srgbClr val="E2E0D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But this weak-overall picture changes completely once the data is split by regime — next slide.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Finding: Sentiment Tracks Price — During Shocks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windows (±7 days around major geopolitical events) vs. calm periods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28800"/>
            <a:ext cx="3977640" cy="3931920"/>
          </a:xfrm>
          <a:prstGeom prst="roundRect">
            <a:avLst>
              <a:gd name="adj" fmla="val 2326"/>
            </a:avLst>
          </a:prstGeom>
          <a:solidFill>
            <a:srgbClr val="1F2C47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2057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pairs significant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event windows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meaningfully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in calm periods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09560" y="35204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sentiment tracks price closely only when a genuine geopolitical shock is driving both news coverage and market reaction at once. On routine trading days, headline tone carries little predictive value on its own.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Granger Causality: Does Sentiment Predict Price?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passed ADF stationarity tests (p &lt; 0.001) — results are methodologically valid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FinBERT → Significant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WTI, lag 4: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3.15, p = 0.014
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Brent, lag 5: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2.25, p = 0.047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Granger causality on both WTI and Brent returns at the 4–7 day lag window (6 of 6 lags tested).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VADER → Not Significant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651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Granger causality at any lag tested, for either WTI or Brent.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4290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domain-tuned model captures a predictive relationship that a general-purpose lexicon misses entirely.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BEF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578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 means past sentiment improves the statistical prediction of future returns — it is a predictive claim, not a mechanistic one. It doesn't prove sentiment causes trades, nor rule out both being driven by the same underlying event.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Forecasting: A Deliberately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backtest — Prophet baseline vs. sentiment-augmented vs. naive persistence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7452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141B2E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8096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improvement from adding sentiment — a wash, not a win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3520440"/>
            <a:ext cx="3474720" cy="18288"/>
          </a:xfrm>
          <a:prstGeom prst="rect">
            <a:avLst/>
          </a:prstGeom>
          <a:solidFill>
            <a:srgbClr val="3A4568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680960" y="4297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naive persistence — both Prophet models underperform “yesterday's price” by an order of magnitude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5257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crude price behaves close to a random walk — a trend/seasonality model struggles to beat naive persistence, even with an added predictive feature.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results, in one line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562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is weak overall, but real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shows small, significant same-day correlation with WTI/Brent; VADER shows none at any lag.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3522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tracks price during shocks, not routine days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31927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Event-window correlation (r ≈ 0.27–0.30) vs. calm-period correlation (r ≈ 0, mostly n.s.) — the strongest result in this project.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0142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FinBERT Granger-causes returns; VADER doesn't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398264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Domain-tuned sentiment carries statistically significant predictive information at 4–7 day lags that a general lexicon misses.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0932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predictive signal doesn't translate into forecast accuracy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47725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Sentiment-augmented Prophet barely beats price-only Prophet (0.95% MAE gain), and both lose badly to naive persistence.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honestly, not oversold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87752"/>
            <a:ext cx="73152" cy="7315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414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Headline-level sentiment only, not full article 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191256"/>
            <a:ext cx="73152" cy="7315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449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60-day backtest window and single lag (7 days) for forecasting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73152" cy="7315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484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tone is dictionary-based, contains duplicate syndicated URLs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398264"/>
            <a:ext cx="73152" cy="7315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51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day Granger lag is unusually long for a fast-moving market — flagged, not fully explained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001768"/>
            <a:ext cx="73152" cy="7315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8554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was dropped for Pandas after local SparkSession issues on Windows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587752"/>
            <a:ext cx="73152" cy="7315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4414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cross-validation (Prophet's cross_validation utility) instead of one fixed split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3273552"/>
            <a:ext cx="73152" cy="7315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1272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simpler models (e.g. ARIMA on returns) alongside naive persistence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959352"/>
            <a:ext cx="73152" cy="7315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8130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full article text, not just headlines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4645152"/>
            <a:ext cx="73152" cy="7315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4988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the Granger-significant lag window is 4–7 days specifically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Crude Oil Price Impact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F2C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carries a real, measurable relationship with crude oil prices — concentrated around geopolitical shocks and detectable through Granger causality — but that relationship is not, on its own, strong enough to build a materially better price forecast.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or mixed result, reported honestly and rigorously, is a strong outcome for a one-month internship.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0607040" cy="18288"/>
          </a:xfrm>
          <a:prstGeom prst="rect">
            <a:avLst/>
          </a:prstGeom>
          <a:solidFill>
            <a:srgbClr val="2A36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Nishwan M  |  2025MSBDA026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Computer Science (Big Data Analytics)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2026-07-21T06:25:33Z</dcterms:created>
  <dcterms:modified xsi:type="dcterms:W3CDTF">2026-07-21T06:25:33Z</dcterms:modified>
</cp:coreProperties>
</file>